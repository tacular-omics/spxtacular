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f0893ac51a4ae7" /><Relationship Type="http://schemas.openxmlformats.org/officeDocument/2006/relationships/extended-properties" Target="/docProps/app.xml" Id="R5686f4a70f544d33" /><Relationship Type="http://schemas.openxmlformats.org/officeDocument/2006/relationships/officeDocument" Target="/ppt/presentation.xml" Id="R42902f5aa26445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36e727e3d64fc0"/>
  </p:sldMasterIdLst>
  <p:notesMasterIdLst>
    <p:notesMasterId xmlns:r="http://schemas.openxmlformats.org/officeDocument/2006/relationships" r:id="R8e0b97b432f649f6"/>
  </p:notesMasterIdLst>
  <p:sldIdLst>
    <p:sldId xmlns:r="http://schemas.openxmlformats.org/officeDocument/2006/relationships" id="256" r:id="Rbdf85dc5af204d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9d9aa187c84495" /><Relationship Type="http://schemas.openxmlformats.org/officeDocument/2006/relationships/slideMaster" Target="/ppt/slideMasters/slideMaster1.xml" Id="R2536e727e3d64fc0" /><Relationship Type="http://schemas.openxmlformats.org/officeDocument/2006/relationships/notesMaster" Target="/ppt/notesMasters/notesMaster1.xml" Id="R8e0b97b432f649f6" /><Relationship Type="http://schemas.openxmlformats.org/officeDocument/2006/relationships/presProps" Target="/ppt/presProps.xml" Id="R586960f328c143df" /><Relationship Type="http://schemas.openxmlformats.org/officeDocument/2006/relationships/viewProps" Target="/ppt/viewProps.xml" Id="R85b38a2fd4e94929" /><Relationship Type="http://schemas.openxmlformats.org/officeDocument/2006/relationships/tableStyles" Target="/ppt/tableStyles.xml" Id="R6fac7c8785e142a9" /><Relationship Type="http://schemas.openxmlformats.org/officeDocument/2006/relationships/slide" Target="/ppt/slides/slide1.xml" Id="Rbdf85dc5af204d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99cb152bee47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c81ff4afb5431f" /><Relationship Type="http://schemas.openxmlformats.org/officeDocument/2006/relationships/notesMaster" Target="/ppt/notesMasters/notesMaster1.xml" Id="R673d4d08a29c46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https://github.com/tacular-omics/spxtacular (supported readers and public interoperability APIs)</a:t>
            </a:r>
            <a:endParaRPr/>
          </a:p>
          <a:p xmlns:a="http://schemas.openxmlformats.org/drawingml/2006/main">
            <a:r>
              <a:t>- https://github.com/tacular-omics/spectrl (compact spectrum token format)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a77a7850494cc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3e6165b9fe4c2a" /><Relationship Type="http://schemas.openxmlformats.org/officeDocument/2006/relationships/slideLayout" Target="/ppt/slideLayouts/slideLayout1.xml" Id="R9125dce614e942f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25dce614e942ff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04bce4f5b4e2a" /><Relationship Type="http://schemas.openxmlformats.org/officeDocument/2006/relationships/image" Target="/ppt/media/image.png" Id="R50448de15ad84ec8" /><Relationship Type="http://schemas.openxmlformats.org/officeDocument/2006/relationships/image" Target="/ppt/media/image2.png" Id="R8b0c676ba4a04b5d" /><Relationship Type="http://schemas.openxmlformats.org/officeDocument/2006/relationships/image" Target="/ppt/media/image3.png" Id="Rb743adb3190d45e2" /><Relationship Type="http://schemas.openxmlformats.org/officeDocument/2006/relationships/image" Target="/ppt/media/image4.png" Id="R6d6f41a8648c4da2" /><Relationship Type="http://schemas.openxmlformats.org/officeDocument/2006/relationships/image" Target="/ppt/media/image5.png" Id="Rd5fe12aedd654e46" /><Relationship Type="http://schemas.openxmlformats.org/officeDocument/2006/relationships/image" Target="/ppt/media/image6.png" Id="Rf07e9f72e881483a" /><Relationship Type="http://schemas.openxmlformats.org/officeDocument/2006/relationships/image" Target="/ppt/media/image7.png" Id="R931a94fc1cd64fb5" /><Relationship Type="http://schemas.openxmlformats.org/officeDocument/2006/relationships/image" Target="/ppt/media/image8.png" Id="R549a3dbc291142b2" /><Relationship Type="http://schemas.openxmlformats.org/officeDocument/2006/relationships/image" Target="/ppt/media/image9.png" Id="R34b6f29f1d7d499f" /><Relationship Type="http://schemas.openxmlformats.org/officeDocument/2006/relationships/notesSlide" Target="/ppt/notesSlides/notesSlide1.xml" Id="R0be41de02a09400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2CF8417-9DA1-44B5-9C56-0F9A3293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 b="1">
                <a:solidFill>
                  <a:srgbClr val="0061FF"/>
                </a:solidFill>
                <a:latin typeface="Arial"/>
                <a:ea typeface="Arial"/>
                <a:cs typeface="Arial"/>
              </a:rPr>
              <a:t>spx</a:t>
            </a:r>
            <a:r>
              <a:rPr sz="4000" b="1">
                <a:solidFill>
                  <a:srgbClr val="DC1D1D"/>
                </a:solidFill>
                <a:latin typeface="Arial"/>
                <a:ea typeface="Arial"/>
                <a:cs typeface="Arial"/>
              </a:rPr>
              <a:t>tacular</a:t>
            </a:r>
            <a:endParaRPr sz="4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A300940-90DB-4167-B7FA-AFAF6A65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914400"/>
            <a:ext cx="7863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666666"/>
                </a:solidFill>
                <a:latin typeface="Arial"/>
                <a:ea typeface="Arial"/>
                <a:cs typeface="Arial"/>
              </a:rPr>
              <a:t>Chainable spectrum processing for mass spectrometry: from raw centroids to neutral masses to PSM scores, in Python.</a:t>
            </a:r>
            <a:endParaRPr sz="1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E6F0B37-780F-439F-A979-6F8086FC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4048"/>
            <a:ext cx="2971800" cy="50292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A1A1A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8EFCD93-E4FB-4F97-9D71-2747ABD0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4048"/>
            <a:ext cx="2971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9CA3AF"/>
                </a:solidFill>
                <a:latin typeface="Courier New"/>
                <a:ea typeface="Courier New"/>
                <a:cs typeface="Courier New"/>
              </a:rPr>
              <a:t>$ </a:t>
            </a:r>
            <a:r>
              <a:rPr sz="140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pip install spxtacular</a:t>
            </a:r>
            <a:endParaRPr sz="1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BFCC494-E979-4935-8FA3-9C3E9A42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81328"/>
            <a:ext cx="1920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061FF"/>
                </a:solidFill>
                <a:latin typeface="Arial"/>
                <a:ea typeface="Arial"/>
                <a:cs typeface="Arial"/>
              </a:rPr>
              <a:t>1  </a:t>
            </a:r>
            <a:r>
              <a:rPr sz="1300" b="1">
                <a:solidFill>
                  <a:srgbClr val="1A1A1A"/>
                </a:solidFill>
                <a:latin typeface="Arial"/>
                <a:ea typeface="Arial"/>
                <a:cs typeface="Arial"/>
              </a:rPr>
              <a:t>Raw centroids</a:t>
            </a:r>
            <a:endParaRPr sz="1300"/>
          </a:p>
        </p:txBody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48de15ad84e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810512"/>
            <a:ext cx="1920240" cy="1411941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49472A2-044F-4808-AA7C-7D308668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2415899"/>
            <a:ext cx="292608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61FF"/>
          </a:solidFill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60F5630-F0A1-475D-97DE-C29FE06A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1481328"/>
            <a:ext cx="1920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DC1D1D"/>
                </a:solidFill>
                <a:latin typeface="Arial"/>
                <a:ea typeface="Arial"/>
                <a:cs typeface="Arial"/>
              </a:rPr>
              <a:t>2  </a:t>
            </a:r>
            <a:r>
              <a:rPr sz="1300" b="1">
                <a:solidFill>
                  <a:srgbClr val="1A1A1A"/>
                </a:solidFill>
                <a:latin typeface="Arial"/>
                <a:ea typeface="Arial"/>
                <a:cs typeface="Arial"/>
              </a:rPr>
              <a:t>Denoise</a:t>
            </a:r>
            <a:endParaRPr sz="1300"/>
          </a:p>
        </p:txBody>
      </p:sp>
      <p:pic>
        <p:nvPicPr>
          <p:cNvPr id="6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c676ba4a04b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07208" y="1810512"/>
            <a:ext cx="1920240" cy="1411941"/>
          </a:xfrm>
          <a:prstGeom xmlns:a="http://schemas.openxmlformats.org/drawingml/2006/main" prst="rect">
            <a:avLst/>
          </a:prstGeom>
        </p:spPr>
      </p:pic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6FFC5EDD-41FD-4E41-B2B8-7AAE0C7B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2415899"/>
            <a:ext cx="292608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C1D1D"/>
          </a:solidFill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E72EAE3-2EF2-43B6-9F33-B3CF20D1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1481328"/>
            <a:ext cx="1920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061FF"/>
                </a:solidFill>
                <a:latin typeface="Arial"/>
                <a:ea typeface="Arial"/>
                <a:cs typeface="Arial"/>
              </a:rPr>
              <a:t>3  </a:t>
            </a:r>
            <a:r>
              <a:rPr sz="1300" b="1">
                <a:solidFill>
                  <a:srgbClr val="1A1A1A"/>
                </a:solidFill>
                <a:latin typeface="Arial"/>
                <a:ea typeface="Arial"/>
                <a:cs typeface="Arial"/>
              </a:rPr>
              <a:t>Deconvolution</a:t>
            </a:r>
            <a:endParaRPr sz="1300"/>
          </a:p>
        </p:txBody>
      </p:sp>
      <p:pic>
        <p:nvPicPr>
          <p:cNvPr id="6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43adb3190d45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11496" y="1810512"/>
            <a:ext cx="1920240" cy="1411941"/>
          </a:xfrm>
          <a:prstGeom xmlns:a="http://schemas.openxmlformats.org/drawingml/2006/main" prst="rect">
            <a:avLst/>
          </a:prstGeom>
        </p:spPr>
      </p:pic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7C53FF4D-DF02-4384-946D-FFA9DD16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456" y="2415899"/>
            <a:ext cx="292608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61FF"/>
          </a:solidFill>
        </p:spPr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2A24E4C9-6608-49EC-858C-25691614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5784" y="1481328"/>
            <a:ext cx="1920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DC1D1D"/>
                </a:solidFill>
                <a:latin typeface="Arial"/>
                <a:ea typeface="Arial"/>
                <a:cs typeface="Arial"/>
              </a:rPr>
              <a:t>4  </a:t>
            </a:r>
            <a:r>
              <a:rPr sz="1300" b="1">
                <a:solidFill>
                  <a:srgbClr val="1A1A1A"/>
                </a:solidFill>
                <a:latin typeface="Arial"/>
                <a:ea typeface="Arial"/>
                <a:cs typeface="Arial"/>
              </a:rPr>
              <a:t>Neutral masses</a:t>
            </a:r>
            <a:endParaRPr sz="1300"/>
          </a:p>
        </p:txBody>
      </p:sp>
      <p:pic>
        <p:nvPicPr>
          <p:cNvPr id="6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6f41a8648c4d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15784" y="1810512"/>
            <a:ext cx="1920240" cy="1411941"/>
          </a:xfrm>
          <a:prstGeom xmlns:a="http://schemas.openxmlformats.org/drawingml/2006/main" prst="rect">
            <a:avLst/>
          </a:prstGeom>
        </p:spPr>
      </p:pic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15B8E15E-D63B-4D9C-81F5-91E7A915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2415899"/>
            <a:ext cx="292608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C1D1D"/>
          </a:solidFill>
        </p:spPr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4B3784C9-C0C6-4B07-A5B0-A79DD4EC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72" y="1481328"/>
            <a:ext cx="1920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061FF"/>
                </a:solidFill>
                <a:latin typeface="Arial"/>
                <a:ea typeface="Arial"/>
                <a:cs typeface="Arial"/>
              </a:rPr>
              <a:t>5  </a:t>
            </a:r>
            <a:r>
              <a:rPr sz="1300" b="1">
                <a:solidFill>
                  <a:srgbClr val="1A1A1A"/>
                </a:solidFill>
                <a:latin typeface="Arial"/>
                <a:ea typeface="Arial"/>
                <a:cs typeface="Arial"/>
              </a:rPr>
              <a:t>Match &amp; score</a:t>
            </a:r>
            <a:endParaRPr sz="1300"/>
          </a:p>
        </p:txBody>
      </p:sp>
      <p:pic>
        <p:nvPicPr>
          <p:cNvPr id="6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fe12aedd654e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0072" y="1810512"/>
            <a:ext cx="1920240" cy="1411941"/>
          </a:xfrm>
          <a:prstGeom xmlns:a="http://schemas.openxmlformats.org/drawingml/2006/main" prst="rect">
            <a:avLst/>
          </a:prstGeom>
        </p:spPr>
      </p:pic>
      <p:sp>
        <p:nvSpPr>
          <p:cNvPr id="20" name="Shape 13">
            <a:extLst xmlns:a="http://schemas.openxmlformats.org/drawingml/2006/main">
              <a:ext uri="{FF2B5EF4-FFF2-40B4-BE49-F238E27FC236}">
                <a16:creationId xmlns:a16="http://schemas.microsoft.com/office/drawing/2014/main" id="{9A0200D8-43D4-4B30-8DA8-B36A20DA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8485"/>
            <a:ext cx="11183112" cy="475488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4F6"/>
          </a:solidFill>
        </p:spPr>
      </p:sp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BE36CB7B-64BE-47D9-B9FC-7F21A123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8485"/>
            <a:ext cx="1118311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1A1A1A"/>
                </a:solidFill>
                <a:latin typeface="Courier New"/>
                <a:ea typeface="Courier New"/>
                <a:cs typeface="Courier New"/>
              </a:rPr>
              <a:t>spec</a:t>
            </a:r>
            <a:r>
              <a:rPr sz="1250" b="1">
                <a:solidFill>
                  <a:srgbClr val="0061FF"/>
                </a:solidFill>
                <a:latin typeface="Courier New"/>
                <a:ea typeface="Courier New"/>
                <a:cs typeface="Courier New"/>
              </a:rPr>
              <a:t>.denoise</a:t>
            </a:r>
            <a:r>
              <a:rPr sz="125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(method="mad")</a:t>
            </a:r>
            <a:r>
              <a:rPr sz="1250" b="1">
                <a:solidFill>
                  <a:srgbClr val="0061FF"/>
                </a:solidFill>
                <a:latin typeface="Courier New"/>
                <a:ea typeface="Courier New"/>
                <a:cs typeface="Courier New"/>
              </a:rPr>
              <a:t>.deconvolute</a:t>
            </a:r>
            <a:r>
              <a:rPr sz="125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(charge_range=(1,5))</a:t>
            </a:r>
            <a:r>
              <a:rPr sz="1250" b="1">
                <a:solidFill>
                  <a:srgbClr val="0061FF"/>
                </a:solidFill>
                <a:latin typeface="Courier New"/>
                <a:ea typeface="Courier New"/>
                <a:cs typeface="Courier New"/>
              </a:rPr>
              <a:t>.decharge</a:t>
            </a:r>
            <a:r>
              <a:rPr sz="125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()</a:t>
            </a:r>
            <a:r>
              <a:rPr sz="1250" b="1">
                <a:solidFill>
                  <a:srgbClr val="0061FF"/>
                </a:solidFill>
                <a:latin typeface="Courier New"/>
                <a:ea typeface="Courier New"/>
                <a:cs typeface="Courier New"/>
              </a:rPr>
              <a:t>.match_fragments</a:t>
            </a:r>
            <a:r>
              <a:rPr sz="125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()</a:t>
            </a:r>
            <a:r>
              <a:rPr sz="1250" b="1">
                <a:solidFill>
                  <a:srgbClr val="0061FF"/>
                </a:solidFill>
                <a:latin typeface="Courier New"/>
                <a:ea typeface="Courier New"/>
                <a:cs typeface="Courier New"/>
              </a:rPr>
              <a:t>.score</a:t>
            </a:r>
            <a:r>
              <a:rPr sz="125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()</a:t>
            </a:r>
            <a:endParaRPr sz="1250"/>
          </a:p>
        </p:txBody>
      </p:sp>
      <p:sp>
        <p:nvSpPr>
          <p:cNvPr id="22" name="Shape 15">
            <a:extLst xmlns:a="http://schemas.openxmlformats.org/drawingml/2006/main">
              <a:ext uri="{FF2B5EF4-FFF2-40B4-BE49-F238E27FC236}">
                <a16:creationId xmlns:a16="http://schemas.microsoft.com/office/drawing/2014/main" id="{BAAA67D8-E670-46A2-95BD-D2BCEA59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315968"/>
            <a:ext cx="2587752" cy="1691640"/>
          </a:xfrm>
          <a:prstGeom xmlns:a="http://schemas.openxmlformats.org/drawingml/2006/main" prst="roundRect">
            <a:avLst>
              <a:gd name="adj" fmla="val 4865"/>
            </a:avLst>
          </a:prstGeom>
          <a:solidFill xmlns:a="http://schemas.openxmlformats.org/drawingml/2006/main">
            <a:srgbClr val="F3F4F6"/>
          </a:solidFill>
        </p:spPr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4FBC2107-65E3-47D6-B40E-B3770D9E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052" y="4498848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74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7e9f72e88148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68780" y="46085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5" name="Text 17">
            <a:extLst xmlns:a="http://schemas.openxmlformats.org/drawingml/2006/main">
              <a:ext uri="{FF2B5EF4-FFF2-40B4-BE49-F238E27FC236}">
                <a16:creationId xmlns:a16="http://schemas.microsoft.com/office/drawing/2014/main" id="{F8734886-C74A-46F0-89E1-3FF3E4FE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5047488"/>
            <a:ext cx="23682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A1A1A"/>
                </a:solidFill>
                <a:latin typeface="Arial"/>
                <a:ea typeface="Arial"/>
                <a:cs typeface="Arial"/>
              </a:rPr>
              <a:t>File readers</a:t>
            </a:r>
            <a:endParaRPr sz="1400"/>
          </a:p>
        </p:txBody>
      </p:sp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88F5BE64-0190-4A75-9E79-270E7DDB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5321808"/>
            <a:ext cx="2258568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100">
                <a:solidFill>
                  <a:srgbClr val="666666"/>
                </a:solidFill>
                <a:latin typeface="Arial"/>
                <a:ea typeface="Arial"/>
                <a:cs typeface="Arial"/>
              </a:rPr>
              <a:t>Bruker · mzML · Thermo RAW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100">
                <a:solidFill>
                  <a:srgbClr val="666666"/>
                </a:solidFill>
                <a:latin typeface="Arial"/>
                <a:ea typeface="Arial"/>
                <a:cs typeface="Arial"/>
              </a:rPr>
              <a:t>MGF · MS2 · MSP · MS1/MS2</a:t>
            </a:r>
          </a:p>
        </p:txBody>
      </p:sp>
      <p:sp>
        <p:nvSpPr>
          <p:cNvPr id="27" name="Shape 19">
            <a:extLst xmlns:a="http://schemas.openxmlformats.org/drawingml/2006/main">
              <a:ext uri="{FF2B5EF4-FFF2-40B4-BE49-F238E27FC236}">
                <a16:creationId xmlns:a16="http://schemas.microsoft.com/office/drawing/2014/main" id="{DEFDD63B-564C-4A58-9759-E6571465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4315968"/>
            <a:ext cx="2587752" cy="1691640"/>
          </a:xfrm>
          <a:prstGeom xmlns:a="http://schemas.openxmlformats.org/drawingml/2006/main" prst="roundRect">
            <a:avLst>
              <a:gd name="adj" fmla="val 4865"/>
            </a:avLst>
          </a:prstGeom>
          <a:solidFill xmlns:a="http://schemas.openxmlformats.org/drawingml/2006/main">
            <a:srgbClr val="F3F4F6"/>
          </a:solidFill>
        </p:spPr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ED07956C-F001-42FF-A157-64C71420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124" y="4498848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7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1a94fc1cd64f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30852" y="46085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673AC3B8-5DAD-42D4-8B7F-FD7308DF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5047488"/>
            <a:ext cx="23682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A1A1A"/>
                </a:solidFill>
                <a:latin typeface="Arial"/>
                <a:ea typeface="Arial"/>
                <a:cs typeface="Arial"/>
              </a:rPr>
              <a:t>Fast deconvolution</a:t>
            </a:r>
            <a:endParaRPr sz="14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28250044-5CDB-44B6-82D3-BBDE1152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5321808"/>
            <a:ext cx="2258568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100">
                <a:solidFill>
                  <a:srgbClr val="666666"/>
                </a:solidFill>
                <a:latin typeface="Arial"/>
                <a:ea typeface="Arial"/>
                <a:cs typeface="Arial"/>
              </a:rPr>
              <a:t>Greedy isotope cluster scoring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100">
                <a:solidFill>
                  <a:srgbClr val="666666"/>
                </a:solidFill>
                <a:latin typeface="Arial"/>
                <a:ea typeface="Arial"/>
                <a:cs typeface="Arial"/>
              </a:rPr>
              <a:t>Numba JIT accelerated scoring</a:t>
            </a:r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D857791A-571B-48D1-AE7B-9DCE447D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064" y="4315968"/>
            <a:ext cx="2587752" cy="1691640"/>
          </a:xfrm>
          <a:prstGeom xmlns:a="http://schemas.openxmlformats.org/drawingml/2006/main" prst="roundRect">
            <a:avLst>
              <a:gd name="adj" fmla="val 4865"/>
            </a:avLst>
          </a:prstGeom>
          <a:solidFill xmlns:a="http://schemas.openxmlformats.org/drawingml/2006/main">
            <a:srgbClr val="F3F4F6"/>
          </a:solidFill>
        </p:spPr>
      </p:sp>
      <p:sp>
        <p:nvSpPr>
          <p:cNvPr id="33" name="Shape 24">
            <a:extLst xmlns:a="http://schemas.openxmlformats.org/drawingml/2006/main">
              <a:ext uri="{FF2B5EF4-FFF2-40B4-BE49-F238E27FC236}">
                <a16:creationId xmlns:a16="http://schemas.microsoft.com/office/drawing/2014/main" id="{08F74029-4262-4F68-A8C4-E3BC19BE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3196" y="4498848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84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9a3dbc291142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92924" y="46085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75BEEEE4-A85F-449E-AD63-8AF80A11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5047488"/>
            <a:ext cx="23682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A1A1A"/>
                </a:solidFill>
                <a:latin typeface="Arial"/>
                <a:ea typeface="Arial"/>
                <a:cs typeface="Arial"/>
              </a:rPr>
              <a:t>Ecosystem adapters</a:t>
            </a:r>
            <a:endParaRPr sz="1400"/>
          </a:p>
        </p:txBody>
      </p:sp>
      <p:sp>
        <p:nvSpPr>
          <p:cNvPr id="36" name="Text 26">
            <a:extLst xmlns:a="http://schemas.openxmlformats.org/drawingml/2006/main">
              <a:ext uri="{FF2B5EF4-FFF2-40B4-BE49-F238E27FC236}">
                <a16:creationId xmlns:a16="http://schemas.microsoft.com/office/drawing/2014/main" id="{F74A86CA-F9DE-4E08-A36C-356548127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5321808"/>
            <a:ext cx="2258568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100">
                <a:solidFill>
                  <a:srgbClr val="666666"/>
                </a:solidFill>
                <a:latin typeface="Arial"/>
                <a:ea typeface="Arial"/>
                <a:cs typeface="Arial"/>
              </a:rPr>
              <a:t>matchms + spectrum_utils adapters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100">
                <a:solidFill>
                  <a:srgbClr val="666666"/>
                </a:solidFill>
                <a:latin typeface="Arial"/>
                <a:ea typeface="Arial"/>
                <a:cs typeface="Arial"/>
              </a:rPr>
              <a:t>Bidirectional ecosystem conversion</a:t>
            </a:r>
          </a:p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D6DB1CD5-F6F0-4A85-BF94-73131BF3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4315968"/>
            <a:ext cx="2587752" cy="1691640"/>
          </a:xfrm>
          <a:prstGeom xmlns:a="http://schemas.openxmlformats.org/drawingml/2006/main" prst="roundRect">
            <a:avLst>
              <a:gd name="adj" fmla="val 4865"/>
            </a:avLst>
          </a:prstGeom>
          <a:solidFill xmlns:a="http://schemas.openxmlformats.org/drawingml/2006/main">
            <a:srgbClr val="F3F4F6"/>
          </a:solidFill>
        </p:spPr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ED357E3B-3F18-44A7-A77B-42DC115B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5268" y="4498848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89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b6f29f1d7d49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254996" y="46085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40" name="Text 29">
            <a:extLst xmlns:a="http://schemas.openxmlformats.org/drawingml/2006/main">
              <a:ext uri="{FF2B5EF4-FFF2-40B4-BE49-F238E27FC236}">
                <a16:creationId xmlns:a16="http://schemas.microsoft.com/office/drawing/2014/main" id="{868D93F8-3217-4415-A8DD-B608EB61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5047488"/>
            <a:ext cx="23682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A1A1A"/>
                </a:solidFill>
                <a:latin typeface="Arial"/>
                <a:ea typeface="Arial"/>
                <a:cs typeface="Arial"/>
              </a:rPr>
              <a:t>Spectrum sharing</a:t>
            </a:r>
            <a:endParaRPr sz="1400"/>
          </a:p>
        </p:txBody>
      </p:sp>
      <p:sp>
        <p:nvSpPr>
          <p:cNvPr id="41" name="Text 30">
            <a:extLst xmlns:a="http://schemas.openxmlformats.org/drawingml/2006/main">
              <a:ext uri="{FF2B5EF4-FFF2-40B4-BE49-F238E27FC236}">
                <a16:creationId xmlns:a16="http://schemas.microsoft.com/office/drawing/2014/main" id="{3E870868-DBFC-4122-95A4-CB458220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5321808"/>
            <a:ext cx="2258568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100">
                <a:solidFill>
                  <a:srgbClr val="666666"/>
                </a:solidFill>
                <a:latin typeface="Arial"/>
                <a:ea typeface="Arial"/>
                <a:cs typeface="Arial"/>
              </a:rPr>
              <a:t>Compact URL-safe spectrl tokens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100">
                <a:solidFill>
                  <a:srgbClr val="666666"/>
                </a:solidFill>
                <a:latin typeface="Arial"/>
                <a:ea typeface="Arial"/>
                <a:cs typeface="Arial"/>
              </a:rPr>
              <a:t>Backend-free sharing with spectrl</a:t>
            </a:r>
          </a:p>
        </p:txBody>
      </p:sp>
      <p:sp>
        <p:nvSpPr>
          <p:cNvPr id="42" name="Text 31">
            <a:extLst xmlns:a="http://schemas.openxmlformats.org/drawingml/2006/main">
              <a:ext uri="{FF2B5EF4-FFF2-40B4-BE49-F238E27FC236}">
                <a16:creationId xmlns:a16="http://schemas.microsoft.com/office/drawing/2014/main" id="{0732C82B-45DE-4808-8DE4-8DD13C84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63640"/>
            <a:ext cx="1118311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999999"/>
                </a:solidFill>
                <a:latin typeface="Arial"/>
                <a:ea typeface="Arial"/>
                <a:cs typeface="Arial"/>
              </a:rPr>
              <a:t>github.com/tacular-omics/spxtacular   ·   tacular-omics.github.io/spxtacular   ·   MIT license   ·   part of the tacular-omics ecosystem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05971233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2026-08-16T01:14:29.0970000Z</dcterms:created>
  <dcterms:modified xsi:type="dcterms:W3CDTF">2026-08-16T01:14:29.0970000Z</dcterms:modified>
</coreProperties>
</file>