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42902f5aa2644516" Type="http://schemas.openxmlformats.org/officeDocument/2006/relationships/officeDocument" Target="ppt/presentation.xml"/><Relationship Id="R5686f4a70f544d33" Type="http://schemas.openxmlformats.org/officeDocument/2006/relationships/extended-properties" Target="docProps/app.xml"/><Relationship Id="R7ff0893ac51a4ae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36e727e3d64fc0"/>
  </p:sldMasterIdLst>
  <p:notesMasterIdLst>
    <p:notesMasterId xmlns:r="http://schemas.openxmlformats.org/officeDocument/2006/relationships" r:id="R8e0b97b432f649f6"/>
  </p:notesMasterIdLst>
  <p:sldIdLst>
    <p:sldId xmlns:r="http://schemas.openxmlformats.org/officeDocument/2006/relationships" id="256" r:id="Rbdf85dc5af204d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536e727e3d64fc0" Type="http://schemas.openxmlformats.org/officeDocument/2006/relationships/slideMaster" Target="slideMasters/slideMaster1.xml"/><Relationship Id="R3f9d9aa187c84495" Type="http://schemas.openxmlformats.org/officeDocument/2006/relationships/theme" Target="theme/theme1.xml"/><Relationship Id="R586960f328c143df" Type="http://schemas.openxmlformats.org/officeDocument/2006/relationships/presProps" Target="presProps.xml"/><Relationship Id="R6fac7c8785e142a9" Type="http://schemas.openxmlformats.org/officeDocument/2006/relationships/tableStyles" Target="tableStyles.xml"/><Relationship Id="R85b38a2fd4e94929" Type="http://schemas.openxmlformats.org/officeDocument/2006/relationships/viewProps" Target="viewProps.xml"/><Relationship Id="R8e0b97b432f649f6" Type="http://schemas.openxmlformats.org/officeDocument/2006/relationships/notesMaster" Target="notesMasters/notesMaster1.xml"/><Relationship Id="Rbdf85dc5af204dce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5799cb152bee477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73d4d08a29c467e" Type="http://schemas.openxmlformats.org/officeDocument/2006/relationships/notesMaster" Target="../notesMasters/notesMaster1.xml"/><Relationship Id="R6bc81ff4afb5431f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https://github.com/tacular-omics/spxtacular (supported readers and public interoperability APIs)</a:t>
            </a:r>
            <a:endParaRPr/>
          </a:p>
          <a:p xmlns:a="http://schemas.openxmlformats.org/drawingml/2006/main">
            <a:r>
              <a:t>- https://github.com/tacular-omics/spectrl (compact spectrum token format)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3a77a785049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53e6165b9fe4c2a" Type="http://schemas.openxmlformats.org/officeDocument/2006/relationships/theme" Target="theme/theme2.xml"/><Relationship Id="R9125dce614e942f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25dce614e942f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9004bce4f5b4e2a" Type="http://schemas.openxmlformats.org/officeDocument/2006/relationships/slideLayout" Target="../slideLayouts/slideLayout1.xml"/><Relationship Id="R0be41de02a094003" Type="http://schemas.openxmlformats.org/officeDocument/2006/relationships/notesSlide" Target="../notesSlides/notesSlide1.xml"/><Relationship Id="R34b6f29f1d7d499f" Type="http://schemas.openxmlformats.org/officeDocument/2006/relationships/image" Target="../media/image9.png"/><Relationship Id="R50448de15ad84ec8" Type="http://schemas.openxmlformats.org/officeDocument/2006/relationships/image" Target="../media/image.png"/><Relationship Id="R549a3dbc291142b2" Type="http://schemas.openxmlformats.org/officeDocument/2006/relationships/image" Target="../media/image8.png"/><Relationship Id="R6d6f41a8648c4da2" Type="http://schemas.openxmlformats.org/officeDocument/2006/relationships/image" Target="../media/image4.png"/><Relationship Id="R8b0c676ba4a04b5d" Type="http://schemas.openxmlformats.org/officeDocument/2006/relationships/image" Target="../media/image2.png"/><Relationship Id="R931a94fc1cd64fb5" Type="http://schemas.openxmlformats.org/officeDocument/2006/relationships/image" Target="../media/image7.png"/><Relationship Id="Rb743adb3190d45e2" Type="http://schemas.openxmlformats.org/officeDocument/2006/relationships/image" Target="../media/image3.png"/><Relationship Id="Rd5fe12aedd654e46" Type="http://schemas.openxmlformats.org/officeDocument/2006/relationships/image" Target="../media/image5.png"/><Relationship Id="Rf07e9f72e881483a" Type="http://schemas.openxmlformats.org/officeDocument/2006/relationships/image" Target="../media/image6.png"/><Relationship Id="rId12" Type="http://schemas.openxmlformats.org/officeDocument/2006/relationships/image" Target="../media/image1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CF8417-9DA1-44B5-9C56-0F9A3293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0061FF"/>
                </a:solidFill>
                <a:latin typeface="Arial"/>
                <a:ea typeface="Arial"/>
                <a:cs typeface="Arial"/>
              </a:rPr>
              <a:t>spx</a:t>
            </a:r>
            <a:r>
              <a:rPr sz="4000" b="1">
                <a:solidFill>
                  <a:srgbClr val="DC1D1D"/>
                </a:solidFill>
                <a:latin typeface="Arial"/>
                <a:ea typeface="Arial"/>
                <a:cs typeface="Arial"/>
              </a:rPr>
              <a:t>tacular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300940-90DB-4167-B7FA-AFAF6A65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666666"/>
                </a:solidFill>
                <a:latin typeface="Arial"/>
                <a:ea typeface="Arial"/>
                <a:cs typeface="Arial"/>
              </a:rPr>
              <a:t>Chainable spectrum processing for mass spectrometry: from raw centroids to neutral masses to PSM scores, in Python.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6F0B37-780F-439F-A979-6F8086FC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4048"/>
            <a:ext cx="297180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A1A1A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EFCD93-E4FB-4F97-9D71-2747ABD0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4048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9CA3AF"/>
                </a:solidFill>
                <a:latin typeface="Courier New"/>
                <a:ea typeface="Courier New"/>
                <a:cs typeface="Courier New"/>
              </a:rPr>
              <a:t>$ </a:t>
            </a:r>
            <a:r>
              <a:rPr sz="140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pip install spxtacular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FCC494-E979-4935-8FA3-9C3E9A4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81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61FF"/>
                </a:solidFill>
                <a:latin typeface="Arial"/>
                <a:ea typeface="Arial"/>
                <a:cs typeface="Arial"/>
              </a:rPr>
              <a:t>1  </a:t>
            </a: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Raw centroids</a:t>
            </a:r>
            <a:endParaRPr sz="1300"/>
          </a:p>
        </p:txBody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48de15ad8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1920240" cy="1411941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49472A2-044F-4808-AA7C-7D30866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415899"/>
            <a:ext cx="292608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1FF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60F5630-F0A1-475D-97DE-C29FE06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208" y="1481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DC1D1D"/>
                </a:solidFill>
                <a:latin typeface="Arial"/>
                <a:ea typeface="Arial"/>
                <a:cs typeface="Arial"/>
              </a:rPr>
              <a:t>2  </a:t>
            </a: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Denoise</a:t>
            </a:r>
            <a:endParaRPr sz="1300"/>
          </a:p>
        </p:txBody>
      </p:sp>
      <p:pic>
        <p:nvPicPr>
          <p:cNvPr id="6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c676ba4a04b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7208" y="1810512"/>
            <a:ext cx="1920240" cy="1411941"/>
          </a:xfrm>
          <a:prstGeom xmlns:a="http://schemas.openxmlformats.org/drawingml/2006/main" prst="rect">
            <a:avLst/>
          </a:prstGeom>
        </p:spPr>
      </p:pic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FFC5EDD-41FD-4E41-B2B8-7AAE0C7B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415899"/>
            <a:ext cx="292608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1D1D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E72EAE3-2EF2-43B6-9F33-B3CF20D1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496" y="1481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61FF"/>
                </a:solidFill>
                <a:latin typeface="Arial"/>
                <a:ea typeface="Arial"/>
                <a:cs typeface="Arial"/>
              </a:rPr>
              <a:t>3  </a:t>
            </a: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Deconvolution</a:t>
            </a:r>
            <a:endParaRPr sz="1300"/>
          </a:p>
        </p:txBody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3adb3190d45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1496" y="1810512"/>
            <a:ext cx="1920240" cy="1411941"/>
          </a:xfrm>
          <a:prstGeom xmlns:a="http://schemas.openxmlformats.org/drawingml/2006/main" prst="rect">
            <a:avLst/>
          </a:prstGeom>
        </p:spPr>
      </p:pic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7C53FF4D-DF02-4384-946D-FFA9DD16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15899"/>
            <a:ext cx="292608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1FF"/>
          </a:solidFill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A24E4C9-6608-49EC-858C-25691614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1481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DC1D1D"/>
                </a:solidFill>
                <a:latin typeface="Arial"/>
                <a:ea typeface="Arial"/>
                <a:cs typeface="Arial"/>
              </a:rPr>
              <a:t>4  </a:t>
            </a: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Neutral masses</a:t>
            </a:r>
            <a:endParaRPr sz="1300"/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f41a8648c4d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5784" y="1810512"/>
            <a:ext cx="1920240" cy="1411941"/>
          </a:xfrm>
          <a:prstGeom xmlns:a="http://schemas.openxmlformats.org/drawingml/2006/main" prst="rect">
            <a:avLst/>
          </a:prstGeom>
        </p:spPr>
      </p:pic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15B8E15E-D63B-4D9C-81F5-91E7A915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2415899"/>
            <a:ext cx="292608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C1D1D"/>
          </a:solidFill>
        </p:spPr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4B3784C9-C0C6-4B07-A5B0-A79DD4EC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1481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061FF"/>
                </a:solidFill>
                <a:latin typeface="Arial"/>
                <a:ea typeface="Arial"/>
                <a:cs typeface="Arial"/>
              </a:rPr>
              <a:t>5  </a:t>
            </a: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Match &amp; score</a:t>
            </a:r>
            <a:endParaRPr sz="1300"/>
          </a:p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e12aedd654e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20072" y="1810512"/>
            <a:ext cx="1920240" cy="1411941"/>
          </a:xfrm>
          <a:prstGeom xmlns:a="http://schemas.openxmlformats.org/drawingml/2006/main" prst="rect">
            <a:avLst/>
          </a:prstGeom>
        </p:spPr>
      </p:pic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9A0200D8-43D4-4B30-8DA8-B36A20DA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8485"/>
            <a:ext cx="11183112" cy="64008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E36CB7B-64BE-47D9-B9FC-7F21A123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8485"/>
            <a:ext cx="1118311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4592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A1A1A"/>
                </a:solidFill>
                <a:latin typeface="Courier New"/>
                <a:ea typeface="Courier New"/>
                <a:cs typeface="Courier New"/>
              </a:rPr>
              <a:t>frags = pt</a:t>
            </a:r>
            <a:r>
              <a:rPr sz="1250" b="1">
                <a:solidFill>
                  <a:srgbClr val="0061FF"/>
                </a:solidFill>
                <a:latin typeface="Courier New"/>
                <a:ea typeface="Courier New"/>
                <a:cs typeface="Courier New"/>
              </a:rPr>
              <a:t>.fragment</a:t>
            </a:r>
            <a:r>
              <a:rPr sz="125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("PEPTIDEK", ion_types=("b", "y"), charges=(0,))</a:t>
            </a:r>
            <a:endParaRPr sz="1250"/>
          </a:p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A1A1A"/>
                </a:solidFill>
                <a:latin typeface="Courier New"/>
                <a:ea typeface="Courier New"/>
                <a:cs typeface="Courier New"/>
              </a:rPr>
              <a:t>spec</a:t>
            </a:r>
            <a:r>
              <a:rPr sz="1250" b="1">
                <a:solidFill>
                  <a:srgbClr val="0061FF"/>
                </a:solidFill>
                <a:latin typeface="Courier New"/>
                <a:ea typeface="Courier New"/>
                <a:cs typeface="Courier New"/>
              </a:rPr>
              <a:t>.denoise</a:t>
            </a:r>
            <a:r>
              <a:rPr sz="125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(method="mad")</a:t>
            </a:r>
            <a:r>
              <a:rPr sz="1250" b="1">
                <a:solidFill>
                  <a:srgbClr val="0061FF"/>
                </a:solidFill>
                <a:latin typeface="Courier New"/>
                <a:ea typeface="Courier New"/>
                <a:cs typeface="Courier New"/>
              </a:rPr>
              <a:t>.deconvolute</a:t>
            </a:r>
            <a:r>
              <a:rPr sz="125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(charge_range=(1, 5))</a:t>
            </a:r>
            <a:r>
              <a:rPr sz="1250" b="1">
                <a:solidFill>
                  <a:srgbClr val="0061FF"/>
                </a:solidFill>
                <a:latin typeface="Courier New"/>
                <a:ea typeface="Courier New"/>
                <a:cs typeface="Courier New"/>
              </a:rPr>
              <a:t>.decharge</a:t>
            </a:r>
            <a:r>
              <a:rPr sz="125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()</a:t>
            </a:r>
            <a:r>
              <a:rPr sz="1250" b="1">
                <a:solidFill>
                  <a:srgbClr val="0061FF"/>
                </a:solidFill>
                <a:latin typeface="Courier New"/>
                <a:ea typeface="Courier New"/>
                <a:cs typeface="Courier New"/>
              </a:rPr>
              <a:t>.score</a:t>
            </a:r>
            <a:r>
              <a:rPr sz="1250">
                <a:solidFill>
                  <a:srgbClr val="555555"/>
                </a:solidFill>
                <a:latin typeface="Courier New"/>
                <a:ea typeface="Courier New"/>
                <a:cs typeface="Courier New"/>
              </a:rPr>
              <a:t>(frags)</a:t>
            </a:r>
            <a:endParaRPr sz="1250"/>
          </a:p>
        </p:txBody>
      </p:sp>
      <p:sp>
        <p:nvSpPr>
          <p:cNvPr id="70" name="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209031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71" name="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335" y="46634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7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e9f72e88148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0063" y="47731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3" name="Tex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5212080"/>
            <a:ext cx="19805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File readers</a:t>
            </a:r>
            <a:endParaRPr sz="1300"/>
          </a:p>
        </p:txBody>
      </p:sp>
      <p:sp>
        <p:nvSpPr>
          <p:cNvPr id="74" name="Text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0"/>
            <a:ext cx="19074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Bruker · mzML · Thermo RAW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MGF · MS2 · MSP · mzSpecLib</a:t>
            </a:r>
          </a:p>
        </p:txBody>
      </p:sp>
      <p:sp>
        <p:nvSpPr>
          <p:cNvPr id="75" name="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118" y="4480560"/>
            <a:ext cx="209031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76" name="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533" y="46634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7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a94fc1cd6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3261" y="47731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8" name="Tex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982" y="5212080"/>
            <a:ext cx="19805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Fast deconvolution</a:t>
            </a:r>
            <a:endParaRPr sz="1300"/>
          </a:p>
        </p:txBody>
      </p:sp>
      <p:sp>
        <p:nvSpPr>
          <p:cNvPr id="79" name="Text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58" y="5486400"/>
            <a:ext cx="19074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Greedy isotope-cluster scoring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Numba JIT acceleration</a:t>
            </a:r>
          </a:p>
        </p:txBody>
      </p:sp>
      <p:sp>
        <p:nvSpPr>
          <p:cNvPr id="80" name="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16" y="4480560"/>
            <a:ext cx="209031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81" name="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731" y="46634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8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6459" y="47731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3" name="Tex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180" y="5212080"/>
            <a:ext cx="19805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Publication figures</a:t>
            </a:r>
            <a:endParaRPr sz="1300"/>
          </a:p>
        </p:txBody>
      </p:sp>
      <p:sp>
        <p:nvSpPr>
          <p:cNvPr id="84" name="Text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56" y="5486400"/>
            <a:ext cx="19074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plotly or matplotlib backends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Journal sizes · PDF/SVG export</a:t>
            </a:r>
          </a:p>
        </p:txBody>
      </p:sp>
      <p:sp>
        <p:nvSpPr>
          <p:cNvPr id="85" name="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514" y="4480560"/>
            <a:ext cx="209031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86" name="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929" y="46634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8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657" y="47731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8" name="Tex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378" y="5212080"/>
            <a:ext cx="19805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Reporter ions</a:t>
            </a:r>
            <a:endParaRPr sz="1300"/>
          </a:p>
        </p:txBody>
      </p:sp>
      <p:sp>
        <p:nvSpPr>
          <p:cNvPr id="89" name="Text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954" y="5486400"/>
            <a:ext cx="19074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TMT · TMTpro · iTRAQ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Impurity-corrected channels</a:t>
            </a:r>
          </a:p>
        </p:txBody>
      </p:sp>
      <p:sp>
        <p:nvSpPr>
          <p:cNvPr id="90" name="Shape 1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5712" y="4480560"/>
            <a:ext cx="2090318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3F4F6"/>
          </a:solidFill>
        </p:spPr>
      </p:sp>
      <p:sp>
        <p:nvSpPr>
          <p:cNvPr id="91" name="Shape 1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127" y="466344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</p:spPr>
      </p:sp>
      <p:pic>
        <p:nvPicPr>
          <p:cNvPr id="9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2855" y="477316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93" name="Text 1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576" y="5212080"/>
            <a:ext cx="198059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Interoperability</a:t>
            </a:r>
            <a:endParaRPr sz="1300"/>
          </a:p>
        </p:txBody>
      </p:sp>
      <p:sp>
        <p:nvSpPr>
          <p:cNvPr id="94" name="Text 1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7152" y="5486400"/>
            <a:ext cx="1907438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matchms · spectrum_utils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0">
                <a:solidFill>
                  <a:srgbClr val="666666"/>
                </a:solidFill>
                <a:latin typeface="Arial"/>
                <a:ea typeface="Arial"/>
                <a:cs typeface="Arial"/>
              </a:rPr>
              <a:t>spectrl URL-safe tokens</a:t>
            </a:r>
          </a:p>
        </p:txBody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0732C82B-45DE-4808-8DE4-8DD13C8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1831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99999"/>
                </a:solidFill>
                <a:latin typeface="Arial"/>
                <a:ea typeface="Arial"/>
                <a:cs typeface="Arial"/>
              </a:rPr>
              <a:t>github.com/tacular-omics/spxtacular   ·   tacular-omics.github.io/spxtacular   ·   MIT license   ·   part of the tacular-omics ecosystem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597123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2026-08-16T01:14:29.0970000Z</dcterms:created>
  <dcterms:modified xsi:type="dcterms:W3CDTF">2026-08-16T01:14:29.0970000Z</dcterms:modified>
</coreProperties>
</file>